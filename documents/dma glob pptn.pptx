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1" r:id="rId9"/>
    <p:sldId id="272" r:id="rId10"/>
    <p:sldId id="273" r:id="rId11"/>
    <p:sldId id="275" r:id="rId12"/>
    <p:sldId id="265" r:id="rId13"/>
    <p:sldId id="267" r:id="rId14"/>
    <p:sldId id="268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1765" autoAdjust="0"/>
  </p:normalViewPr>
  <p:slideViewPr>
    <p:cSldViewPr>
      <p:cViewPr varScale="1">
        <p:scale>
          <a:sx n="81" d="100"/>
          <a:sy n="81" d="100"/>
        </p:scale>
        <p:origin x="59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9595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3399" y="185960"/>
            <a:ext cx="2777291" cy="121565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80" y="257083"/>
            <a:ext cx="2581421" cy="9388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160" y="139191"/>
            <a:ext cx="88106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8248" y="2686148"/>
            <a:ext cx="9978390" cy="3969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87125" y="1828800"/>
            <a:ext cx="731393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685" marR="5080" indent="-2547620">
              <a:lnSpc>
                <a:spcPct val="100000"/>
              </a:lnSpc>
              <a:spcBef>
                <a:spcPts val="100"/>
              </a:spcBef>
            </a:pPr>
            <a:r>
              <a:rPr lang="en-US" sz="4000" dirty="0"/>
              <a:t>            Retail Product Sales Analysis</a:t>
            </a:r>
            <a:endParaRPr sz="4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852365" y="3702015"/>
            <a:ext cx="10830560" cy="2573020"/>
            <a:chOff x="852365" y="3702015"/>
            <a:chExt cx="10830560" cy="2573020"/>
          </a:xfrm>
        </p:grpSpPr>
        <p:sp>
          <p:nvSpPr>
            <p:cNvPr id="5" name="object 5"/>
            <p:cNvSpPr/>
            <p:nvPr/>
          </p:nvSpPr>
          <p:spPr>
            <a:xfrm>
              <a:off x="858715" y="3708365"/>
              <a:ext cx="10817860" cy="2560320"/>
            </a:xfrm>
            <a:custGeom>
              <a:avLst/>
              <a:gdLst/>
              <a:ahLst/>
              <a:cxnLst/>
              <a:rect l="l" t="t" r="r" b="b"/>
              <a:pathLst>
                <a:path w="10817860" h="2560320">
                  <a:moveTo>
                    <a:pt x="10390748" y="2560272"/>
                  </a:moveTo>
                  <a:lnTo>
                    <a:pt x="426720" y="2560272"/>
                  </a:lnTo>
                  <a:lnTo>
                    <a:pt x="380224" y="2557769"/>
                  </a:lnTo>
                  <a:lnTo>
                    <a:pt x="335179" y="2550430"/>
                  </a:lnTo>
                  <a:lnTo>
                    <a:pt x="291843" y="2538518"/>
                  </a:lnTo>
                  <a:lnTo>
                    <a:pt x="250479" y="2522292"/>
                  </a:lnTo>
                  <a:lnTo>
                    <a:pt x="211346" y="2502013"/>
                  </a:lnTo>
                  <a:lnTo>
                    <a:pt x="174705" y="2477940"/>
                  </a:lnTo>
                  <a:lnTo>
                    <a:pt x="140815" y="2450335"/>
                  </a:lnTo>
                  <a:lnTo>
                    <a:pt x="109937" y="2419457"/>
                  </a:lnTo>
                  <a:lnTo>
                    <a:pt x="82332" y="2385568"/>
                  </a:lnTo>
                  <a:lnTo>
                    <a:pt x="58259" y="2348926"/>
                  </a:lnTo>
                  <a:lnTo>
                    <a:pt x="37980" y="2309793"/>
                  </a:lnTo>
                  <a:lnTo>
                    <a:pt x="21754" y="2268429"/>
                  </a:lnTo>
                  <a:lnTo>
                    <a:pt x="9842" y="2225093"/>
                  </a:lnTo>
                  <a:lnTo>
                    <a:pt x="2503" y="2180048"/>
                  </a:lnTo>
                  <a:lnTo>
                    <a:pt x="0" y="2133552"/>
                  </a:lnTo>
                  <a:lnTo>
                    <a:pt x="0" y="426720"/>
                  </a:lnTo>
                  <a:lnTo>
                    <a:pt x="2503" y="380224"/>
                  </a:lnTo>
                  <a:lnTo>
                    <a:pt x="9842" y="335179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5"/>
                  </a:lnTo>
                  <a:lnTo>
                    <a:pt x="109937" y="140815"/>
                  </a:lnTo>
                  <a:lnTo>
                    <a:pt x="140815" y="109937"/>
                  </a:lnTo>
                  <a:lnTo>
                    <a:pt x="174705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9" y="9842"/>
                  </a:lnTo>
                  <a:lnTo>
                    <a:pt x="380224" y="2503"/>
                  </a:lnTo>
                  <a:lnTo>
                    <a:pt x="426720" y="0"/>
                  </a:lnTo>
                  <a:lnTo>
                    <a:pt x="10390748" y="0"/>
                  </a:lnTo>
                  <a:lnTo>
                    <a:pt x="10438897" y="2723"/>
                  </a:lnTo>
                  <a:lnTo>
                    <a:pt x="10486062" y="10779"/>
                  </a:lnTo>
                  <a:lnTo>
                    <a:pt x="10531823" y="23994"/>
                  </a:lnTo>
                  <a:lnTo>
                    <a:pt x="10575764" y="42195"/>
                  </a:lnTo>
                  <a:lnTo>
                    <a:pt x="10617466" y="65208"/>
                  </a:lnTo>
                  <a:lnTo>
                    <a:pt x="10656512" y="92862"/>
                  </a:lnTo>
                  <a:lnTo>
                    <a:pt x="10692485" y="124983"/>
                  </a:lnTo>
                  <a:lnTo>
                    <a:pt x="10724606" y="160956"/>
                  </a:lnTo>
                  <a:lnTo>
                    <a:pt x="10752260" y="200002"/>
                  </a:lnTo>
                  <a:lnTo>
                    <a:pt x="10775274" y="241705"/>
                  </a:lnTo>
                  <a:lnTo>
                    <a:pt x="10793474" y="285645"/>
                  </a:lnTo>
                  <a:lnTo>
                    <a:pt x="10806689" y="331407"/>
                  </a:lnTo>
                  <a:lnTo>
                    <a:pt x="10814745" y="378571"/>
                  </a:lnTo>
                  <a:lnTo>
                    <a:pt x="10817469" y="426720"/>
                  </a:lnTo>
                  <a:lnTo>
                    <a:pt x="10817469" y="2133552"/>
                  </a:lnTo>
                  <a:lnTo>
                    <a:pt x="10814965" y="2180048"/>
                  </a:lnTo>
                  <a:lnTo>
                    <a:pt x="10807627" y="2225093"/>
                  </a:lnTo>
                  <a:lnTo>
                    <a:pt x="10795714" y="2268429"/>
                  </a:lnTo>
                  <a:lnTo>
                    <a:pt x="10779488" y="2309793"/>
                  </a:lnTo>
                  <a:lnTo>
                    <a:pt x="10759209" y="2348926"/>
                  </a:lnTo>
                  <a:lnTo>
                    <a:pt x="10735136" y="2385568"/>
                  </a:lnTo>
                  <a:lnTo>
                    <a:pt x="10707531" y="2419457"/>
                  </a:lnTo>
                  <a:lnTo>
                    <a:pt x="10676653" y="2450335"/>
                  </a:lnTo>
                  <a:lnTo>
                    <a:pt x="10642764" y="2477940"/>
                  </a:lnTo>
                  <a:lnTo>
                    <a:pt x="10606122" y="2502013"/>
                  </a:lnTo>
                  <a:lnTo>
                    <a:pt x="10566989" y="2522292"/>
                  </a:lnTo>
                  <a:lnTo>
                    <a:pt x="10525624" y="2538518"/>
                  </a:lnTo>
                  <a:lnTo>
                    <a:pt x="10482289" y="2550430"/>
                  </a:lnTo>
                  <a:lnTo>
                    <a:pt x="10437244" y="2557769"/>
                  </a:lnTo>
                  <a:lnTo>
                    <a:pt x="10390748" y="256027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8715" y="3708365"/>
              <a:ext cx="10817860" cy="2560320"/>
            </a:xfrm>
            <a:custGeom>
              <a:avLst/>
              <a:gdLst/>
              <a:ahLst/>
              <a:cxnLst/>
              <a:rect l="l" t="t" r="r" b="b"/>
              <a:pathLst>
                <a:path w="10817860" h="2560320">
                  <a:moveTo>
                    <a:pt x="0" y="426720"/>
                  </a:moveTo>
                  <a:lnTo>
                    <a:pt x="2503" y="380224"/>
                  </a:lnTo>
                  <a:lnTo>
                    <a:pt x="9842" y="335179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5"/>
                  </a:lnTo>
                  <a:lnTo>
                    <a:pt x="109937" y="140815"/>
                  </a:lnTo>
                  <a:lnTo>
                    <a:pt x="140815" y="109937"/>
                  </a:lnTo>
                  <a:lnTo>
                    <a:pt x="174705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9" y="9842"/>
                  </a:lnTo>
                  <a:lnTo>
                    <a:pt x="380224" y="2503"/>
                  </a:lnTo>
                  <a:lnTo>
                    <a:pt x="426720" y="0"/>
                  </a:lnTo>
                  <a:lnTo>
                    <a:pt x="10390748" y="0"/>
                  </a:lnTo>
                  <a:lnTo>
                    <a:pt x="10438897" y="2723"/>
                  </a:lnTo>
                  <a:lnTo>
                    <a:pt x="10486062" y="10779"/>
                  </a:lnTo>
                  <a:lnTo>
                    <a:pt x="10531823" y="23994"/>
                  </a:lnTo>
                  <a:lnTo>
                    <a:pt x="10575764" y="42195"/>
                  </a:lnTo>
                  <a:lnTo>
                    <a:pt x="10617466" y="65208"/>
                  </a:lnTo>
                  <a:lnTo>
                    <a:pt x="10656512" y="92862"/>
                  </a:lnTo>
                  <a:lnTo>
                    <a:pt x="10692485" y="124983"/>
                  </a:lnTo>
                  <a:lnTo>
                    <a:pt x="10724606" y="160956"/>
                  </a:lnTo>
                  <a:lnTo>
                    <a:pt x="10752260" y="200002"/>
                  </a:lnTo>
                  <a:lnTo>
                    <a:pt x="10775274" y="241705"/>
                  </a:lnTo>
                  <a:lnTo>
                    <a:pt x="10793474" y="285645"/>
                  </a:lnTo>
                  <a:lnTo>
                    <a:pt x="10806689" y="331407"/>
                  </a:lnTo>
                  <a:lnTo>
                    <a:pt x="10814745" y="378571"/>
                  </a:lnTo>
                  <a:lnTo>
                    <a:pt x="10817469" y="426720"/>
                  </a:lnTo>
                  <a:lnTo>
                    <a:pt x="10817469" y="2133552"/>
                  </a:lnTo>
                  <a:lnTo>
                    <a:pt x="10814965" y="2180048"/>
                  </a:lnTo>
                  <a:lnTo>
                    <a:pt x="10807627" y="2225093"/>
                  </a:lnTo>
                  <a:lnTo>
                    <a:pt x="10795714" y="2268429"/>
                  </a:lnTo>
                  <a:lnTo>
                    <a:pt x="10779488" y="2309793"/>
                  </a:lnTo>
                  <a:lnTo>
                    <a:pt x="10759209" y="2348926"/>
                  </a:lnTo>
                  <a:lnTo>
                    <a:pt x="10735136" y="2385568"/>
                  </a:lnTo>
                  <a:lnTo>
                    <a:pt x="10707531" y="2419457"/>
                  </a:lnTo>
                  <a:lnTo>
                    <a:pt x="10676653" y="2450335"/>
                  </a:lnTo>
                  <a:lnTo>
                    <a:pt x="10642764" y="2477940"/>
                  </a:lnTo>
                  <a:lnTo>
                    <a:pt x="10606122" y="2502013"/>
                  </a:lnTo>
                  <a:lnTo>
                    <a:pt x="10566989" y="2522292"/>
                  </a:lnTo>
                  <a:lnTo>
                    <a:pt x="10525624" y="2538518"/>
                  </a:lnTo>
                  <a:lnTo>
                    <a:pt x="10482289" y="2550430"/>
                  </a:lnTo>
                  <a:lnTo>
                    <a:pt x="10437244" y="2557769"/>
                  </a:lnTo>
                  <a:lnTo>
                    <a:pt x="10390748" y="2560272"/>
                  </a:lnTo>
                  <a:lnTo>
                    <a:pt x="426720" y="2560272"/>
                  </a:lnTo>
                  <a:lnTo>
                    <a:pt x="380224" y="2557769"/>
                  </a:lnTo>
                  <a:lnTo>
                    <a:pt x="335179" y="2550430"/>
                  </a:lnTo>
                  <a:lnTo>
                    <a:pt x="291843" y="2538518"/>
                  </a:lnTo>
                  <a:lnTo>
                    <a:pt x="250479" y="2522292"/>
                  </a:lnTo>
                  <a:lnTo>
                    <a:pt x="211346" y="2502013"/>
                  </a:lnTo>
                  <a:lnTo>
                    <a:pt x="174705" y="2477940"/>
                  </a:lnTo>
                  <a:lnTo>
                    <a:pt x="140815" y="2450335"/>
                  </a:lnTo>
                  <a:lnTo>
                    <a:pt x="109937" y="2419457"/>
                  </a:lnTo>
                  <a:lnTo>
                    <a:pt x="82332" y="2385568"/>
                  </a:lnTo>
                  <a:lnTo>
                    <a:pt x="58259" y="2348926"/>
                  </a:lnTo>
                  <a:lnTo>
                    <a:pt x="37980" y="2309793"/>
                  </a:lnTo>
                  <a:lnTo>
                    <a:pt x="21754" y="2268429"/>
                  </a:lnTo>
                  <a:lnTo>
                    <a:pt x="9842" y="2225093"/>
                  </a:lnTo>
                  <a:lnTo>
                    <a:pt x="2503" y="2180048"/>
                  </a:lnTo>
                  <a:lnTo>
                    <a:pt x="0" y="2133552"/>
                  </a:lnTo>
                  <a:lnTo>
                    <a:pt x="0" y="426720"/>
                  </a:lnTo>
                  <a:close/>
                </a:path>
              </a:pathLst>
            </a:custGeom>
            <a:ln w="12699">
              <a:solidFill>
                <a:srgbClr val="D4DB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354895" y="3810000"/>
            <a:ext cx="9978390" cy="17917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5740" marR="3282315" indent="267335">
              <a:lnSpc>
                <a:spcPct val="133400"/>
              </a:lnSpc>
              <a:spcBef>
                <a:spcPts val="100"/>
              </a:spcBef>
            </a:pPr>
            <a:r>
              <a:rPr spc="-10" dirty="0"/>
              <a:t>Faculty</a:t>
            </a:r>
            <a:r>
              <a:rPr spc="-70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spc="-10" dirty="0"/>
              <a:t>M.</a:t>
            </a:r>
            <a:r>
              <a:rPr lang="en-US" spc="-10" dirty="0"/>
              <a:t> Kiran Kumar</a:t>
            </a:r>
            <a:endParaRPr spc="-10" dirty="0"/>
          </a:p>
          <a:p>
            <a:pPr>
              <a:lnSpc>
                <a:spcPct val="100000"/>
              </a:lnSpc>
              <a:spcBef>
                <a:spcPts val="1430"/>
              </a:spcBef>
            </a:pPr>
            <a:r>
              <a:rPr lang="en-US" sz="1800" dirty="0"/>
              <a:t> B. Shiva Prasad – 23241A3208</a:t>
            </a:r>
          </a:p>
          <a:p>
            <a:pPr>
              <a:lnSpc>
                <a:spcPct val="100000"/>
              </a:lnSpc>
              <a:spcBef>
                <a:spcPts val="1430"/>
              </a:spcBef>
            </a:pPr>
            <a:r>
              <a:rPr lang="en-US" sz="1800" dirty="0"/>
              <a:t> K. Ganesh – 23241A3226</a:t>
            </a: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30" y="305561"/>
            <a:ext cx="39395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Problem</a:t>
            </a:r>
            <a:r>
              <a:rPr sz="2400" spc="-210" dirty="0"/>
              <a:t> </a:t>
            </a:r>
            <a:r>
              <a:rPr sz="2400" spc="-10" dirty="0"/>
              <a:t>Statement: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0" y="1019302"/>
            <a:ext cx="11466195" cy="6052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businesses generate large volumes of sales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 time-consuming and inefficient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trends, top products, and customer behavior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forecasting leads to poor decision-making 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in analyzing sales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business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profitable products and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decision-making using predictions </a:t>
            </a:r>
          </a:p>
          <a:p>
            <a:pPr lvl="1">
              <a:lnSpc>
                <a:spcPct val="100000"/>
              </a:lnSpc>
              <a:spcBef>
                <a:spcPts val="290"/>
              </a:spcBef>
              <a:buClr>
                <a:srgbClr val="595959"/>
              </a:buCl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2400" b="1" spc="-10" dirty="0">
              <a:solidFill>
                <a:srgbClr val="4472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retail sales data and extract meaningful insights</a:t>
            </a:r>
            <a:endParaRPr lang="en-US" sz="20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decision-making in inventory, pricing, and marketing.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purchasing behavior.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sales trends over time (monthly/yearly).</a:t>
            </a:r>
          </a:p>
          <a:p>
            <a:pPr marL="12700">
              <a:lnSpc>
                <a:spcPct val="100000"/>
              </a:lnSpc>
            </a:pPr>
            <a:endParaRPr lang="en-US" sz="2000" b="1" spc="-10" dirty="0">
              <a:solidFill>
                <a:srgbClr val="4472C4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Target</a:t>
            </a:r>
            <a:r>
              <a:rPr spc="-120" dirty="0"/>
              <a:t> </a:t>
            </a:r>
            <a:r>
              <a:rPr dirty="0"/>
              <a:t>Segment</a:t>
            </a:r>
            <a:r>
              <a:rPr spc="-110" dirty="0"/>
              <a:t> </a:t>
            </a:r>
            <a:r>
              <a:rPr dirty="0"/>
              <a:t>/</a:t>
            </a:r>
            <a:r>
              <a:rPr spc="-114" dirty="0"/>
              <a:t> </a:t>
            </a:r>
            <a:r>
              <a:rPr dirty="0"/>
              <a:t>Market</a:t>
            </a:r>
            <a:r>
              <a:rPr spc="-105" dirty="0"/>
              <a:t> </a:t>
            </a:r>
            <a:r>
              <a:rPr spc="-10" dirty="0"/>
              <a:t>Size: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258" y="901303"/>
            <a:ext cx="6128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Intended</a:t>
            </a:r>
            <a:r>
              <a:rPr sz="240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95959"/>
                </a:solidFill>
                <a:latin typeface="Arial"/>
                <a:cs typeface="Arial"/>
              </a:rPr>
              <a:t>Customers</a:t>
            </a:r>
            <a:r>
              <a:rPr sz="24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240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595959"/>
                </a:solidFill>
                <a:latin typeface="Arial"/>
                <a:cs typeface="Arial"/>
              </a:rPr>
              <a:t>Targeted</a:t>
            </a:r>
            <a:r>
              <a:rPr sz="24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95959"/>
                </a:solidFill>
                <a:latin typeface="Arial"/>
                <a:cs typeface="Arial"/>
              </a:rPr>
              <a:t>Segments: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41" y="1459667"/>
            <a:ext cx="6194855" cy="49850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7075" y="823905"/>
            <a:ext cx="1702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Market</a:t>
            </a:r>
            <a:r>
              <a:rPr sz="24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595959"/>
                </a:solidFill>
                <a:latin typeface="Arial"/>
                <a:cs typeface="Arial"/>
              </a:rPr>
              <a:t>Size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5568" y="1373450"/>
            <a:ext cx="2955688" cy="199708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17673" y="3466210"/>
            <a:ext cx="53797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Global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Generative</a:t>
            </a:r>
            <a:r>
              <a:rPr sz="1800" b="1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predicted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surpass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around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15.69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USD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Billion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2034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4770" y="4538618"/>
            <a:ext cx="3088203" cy="16627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44170" y="6227915"/>
            <a:ext cx="5396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4020" marR="5080" indent="-1671955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Compound</a:t>
            </a:r>
            <a:r>
              <a:rPr sz="1800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Annual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Growth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Rate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increase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drastically</a:t>
            </a:r>
            <a:r>
              <a:rPr sz="18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2034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90A4A0-E477-490B-5229-CE6FEFD3F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0" y="92529"/>
            <a:ext cx="12098159" cy="67654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50" dirty="0"/>
              <a:t> </a:t>
            </a:r>
            <a:r>
              <a:rPr dirty="0"/>
              <a:t>Solutions</a:t>
            </a:r>
            <a:r>
              <a:rPr spc="-40" dirty="0"/>
              <a:t> </a:t>
            </a:r>
            <a:r>
              <a:rPr dirty="0"/>
              <a:t>/</a:t>
            </a:r>
            <a:r>
              <a:rPr spc="-40" dirty="0"/>
              <a:t> </a:t>
            </a:r>
            <a:r>
              <a:rPr dirty="0"/>
              <a:t>Platforms</a:t>
            </a:r>
            <a:r>
              <a:rPr spc="-35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spc="-10" dirty="0"/>
              <a:t>Finaxial</a:t>
            </a:r>
            <a:r>
              <a:rPr spc="-215" dirty="0"/>
              <a:t> </a:t>
            </a:r>
            <a:r>
              <a:rPr spc="-25" dirty="0"/>
              <a:t>AI: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288BE-F774-4ECC-CFFD-C1BE097CEBD9}"/>
              </a:ext>
            </a:extLst>
          </p:cNvPr>
          <p:cNvSpPr txBox="1"/>
          <p:nvPr/>
        </p:nvSpPr>
        <p:spPr>
          <a:xfrm>
            <a:off x="1066800" y="1447800"/>
            <a:ext cx="3200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Existing:                                                                     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Excel analysis                                          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visualization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prediction capability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A6471-6B7B-B2BD-BC01-7FF62902F791}"/>
              </a:ext>
            </a:extLst>
          </p:cNvPr>
          <p:cNvSpPr txBox="1"/>
          <p:nvPr/>
        </p:nvSpPr>
        <p:spPr>
          <a:xfrm>
            <a:off x="6553200" y="1442301"/>
            <a:ext cx="358140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processing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using ARIMA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547" y="350883"/>
            <a:ext cx="8810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5" dirty="0"/>
              <a:t> </a:t>
            </a:r>
            <a:r>
              <a:rPr dirty="0"/>
              <a:t>our</a:t>
            </a:r>
            <a:r>
              <a:rPr spc="-80" dirty="0"/>
              <a:t> </a:t>
            </a:r>
            <a:r>
              <a:rPr dirty="0"/>
              <a:t>solution</a:t>
            </a:r>
            <a:r>
              <a:rPr spc="-2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10" dirty="0"/>
              <a:t>accurate?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E657327-6BBB-3DF2-C757-527A52C5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" y="1112917"/>
            <a:ext cx="89154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ensures clean input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missing values and inconsistencies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ARIMA time-series model for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evaluation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(MAPE-based)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 tuning improves performance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60" y="139191"/>
            <a:ext cx="2644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728F5F-3C7D-DF2A-D749-05DBEFFB7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84" y="254988"/>
            <a:ext cx="11165840" cy="6348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18EEC-5EF4-86F4-D2C2-EC3651EA4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" y="405061"/>
            <a:ext cx="8810625" cy="574040"/>
          </a:xfrm>
        </p:spPr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C1E01D-B980-A3F6-8814-F3E9BC3E7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066800"/>
            <a:ext cx="9103360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1–2 years of retail sales data to analyze trends and seasonal patterns.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of 500–5000 transaction records to ensure meaningful analysis.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Needed: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Transaction-level data: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Date, Transaction ID, Customer ID, Product Category, Quantity, Price, Total Amount.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Customer-level data: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ID, Gender, Age (to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segmentation).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Product-level data: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Category, Price per unit, Quantity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CF00608-F1A0-7CDE-B70E-288D2AB0C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525" y="139700"/>
            <a:ext cx="8810625" cy="5730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472C4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IN" dirty="0"/>
              <a:t>Classification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14B1C2-AE48-31A6-8BC4-40A6E73E4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143000"/>
            <a:ext cx="3810000" cy="2158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76%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0.84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 0.83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0.83 </a:t>
            </a:r>
          </a:p>
        </p:txBody>
      </p:sp>
    </p:spTree>
    <p:extLst>
      <p:ext uri="{BB962C8B-B14F-4D97-AF65-F5344CB8AC3E}">
        <p14:creationId xmlns:p14="http://schemas.microsoft.com/office/powerpoint/2010/main" val="59872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806D-5218-69AD-5790-1F7AC175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9FF90-9035-796A-FD7E-89E967FB6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399"/>
            <a:ext cx="12192000" cy="53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4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5">
            <a:extLst>
              <a:ext uri="{FF2B5EF4-FFF2-40B4-BE49-F238E27FC236}">
                <a16:creationId xmlns:a16="http://schemas.microsoft.com/office/drawing/2014/main" id="{39499949-4162-1C47-DA07-30F4F4DDCFE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800" y="457200"/>
            <a:ext cx="8915399" cy="480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B221A9-09F5-E4B5-704D-DC5EBCC99E3D}"/>
              </a:ext>
            </a:extLst>
          </p:cNvPr>
          <p:cNvSpPr txBox="1"/>
          <p:nvPr/>
        </p:nvSpPr>
        <p:spPr>
          <a:xfrm>
            <a:off x="1600200" y="5562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J48 Unpruned 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3542A-7678-D4CB-104A-30C8DDA5A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73" y="457200"/>
            <a:ext cx="11049453" cy="54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51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3CD24-86A1-9AE0-2F5B-EE5EBA19D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8248" y="5638800"/>
            <a:ext cx="9978390" cy="307777"/>
          </a:xfrm>
        </p:spPr>
        <p:txBody>
          <a:bodyPr/>
          <a:lstStyle/>
          <a:p>
            <a:pPr algn="ctr"/>
            <a:r>
              <a:rPr lang="en-IN" dirty="0"/>
              <a:t>PART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5E505-9F01-AFB9-D8AA-D887DBD32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34" y="457200"/>
            <a:ext cx="1155433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9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930" y="834516"/>
            <a:ext cx="10383325" cy="504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b="1" spc="-35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b="1" spc="-35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5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  <a:endParaRPr lang="en-IN" sz="2000" b="1" spc="-25" dirty="0">
              <a:solidFill>
                <a:srgbClr val="4472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 data-driven dashboard for retail sales analysis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sz="2000" b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000" b="1" spc="-15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8295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lang="en-IN" sz="2000" dirty="0"/>
              <a:t>Interactive dashboard</a:t>
            </a:r>
          </a:p>
          <a:p>
            <a:pPr marL="328295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lang="en-IN" sz="2000" dirty="0"/>
              <a:t>Dynamic filtering</a:t>
            </a:r>
          </a:p>
          <a:p>
            <a:pPr marL="328295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lang="en-IN" sz="2000" dirty="0"/>
              <a:t>Data visualization</a:t>
            </a:r>
          </a:p>
          <a:p>
            <a:pPr marL="328295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lang="en-IN" sz="2000" dirty="0"/>
              <a:t>Sales forecasting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sz="2000" b="1" spc="-1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sz="2000" b="1" spc="-10" dirty="0">
              <a:solidFill>
                <a:srgbClr val="4472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Improves decision-making</a:t>
            </a:r>
          </a:p>
          <a:p>
            <a:pPr marL="2984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Reduces manual effort</a:t>
            </a:r>
          </a:p>
          <a:p>
            <a:pPr marL="2984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Provides business insights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114" dirty="0"/>
              <a:t> </a:t>
            </a:r>
            <a:r>
              <a:rPr spc="-10" dirty="0"/>
              <a:t>Enhancements: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4A9B276-97BF-849B-4ED5-19B4AECCE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914400"/>
            <a:ext cx="4916731" cy="2620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models (Prophet, ML models)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segmentation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deployment with live dashboard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Mobile-friendly interface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6166" y="3014516"/>
            <a:ext cx="35433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latin typeface="Arial Black"/>
                <a:cs typeface="Arial Black"/>
              </a:rPr>
              <a:t>Thank</a:t>
            </a:r>
            <a:r>
              <a:rPr sz="4800" b="0" spc="95" dirty="0">
                <a:latin typeface="Arial Black"/>
                <a:cs typeface="Arial Black"/>
              </a:rPr>
              <a:t> </a:t>
            </a:r>
            <a:r>
              <a:rPr sz="4800" b="0" spc="-114" dirty="0">
                <a:latin typeface="Arial Black"/>
                <a:cs typeface="Arial Black"/>
              </a:rPr>
              <a:t>You</a:t>
            </a:r>
            <a:endParaRPr sz="4800" dirty="0">
              <a:latin typeface="Arial Black"/>
              <a:cs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CD3D9-4360-D11A-2575-3618E78E6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0"/>
            <a:ext cx="2895600" cy="1806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B07BC3-14CC-1687-053C-AEBD34B00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" y="228600"/>
            <a:ext cx="2814320" cy="18060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2062</TotalTime>
  <Words>399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Times New Roman</vt:lpstr>
      <vt:lpstr>Office Theme</vt:lpstr>
      <vt:lpstr>            Retail Product Sales Analysis</vt:lpstr>
      <vt:lpstr>Problem Statement:</vt:lpstr>
      <vt:lpstr>Target Segment / Market Size:</vt:lpstr>
      <vt:lpstr>Existing Solutions / Platforms vs Finaxial AI:</vt:lpstr>
      <vt:lpstr>Why our solution is accurate?</vt:lpstr>
      <vt:lpstr>Architecture:</vt:lpstr>
      <vt:lpstr>Dataset Description</vt:lpstr>
      <vt:lpstr>Classification Results</vt:lpstr>
      <vt:lpstr>Results</vt:lpstr>
      <vt:lpstr>PowerPoint Presentation</vt:lpstr>
      <vt:lpstr>PowerPoint Presentation</vt:lpstr>
      <vt:lpstr>Conclusion:</vt:lpstr>
      <vt:lpstr>Future Enhancements: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3 Sample PPT.pptx</dc:title>
  <dc:creator>Lekhith shiva Maskapur</dc:creator>
  <cp:lastModifiedBy>shiva shiva</cp:lastModifiedBy>
  <cp:revision>6</cp:revision>
  <dcterms:created xsi:type="dcterms:W3CDTF">2026-04-19T07:03:15Z</dcterms:created>
  <dcterms:modified xsi:type="dcterms:W3CDTF">2026-04-28T07:17:20Z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2026-04-19T00:00:00Z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2026-04-19T00:00:00Z</vt:filetime>
  </property>
</Properties>
</file>